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80" r:id="rId3"/>
    <p:sldId id="257" r:id="rId4"/>
    <p:sldId id="258" r:id="rId5"/>
    <p:sldId id="259" r:id="rId6"/>
    <p:sldId id="281" r:id="rId7"/>
    <p:sldId id="260" r:id="rId8"/>
    <p:sldId id="261" r:id="rId9"/>
    <p:sldId id="262" r:id="rId10"/>
    <p:sldId id="282" r:id="rId11"/>
    <p:sldId id="263" r:id="rId12"/>
    <p:sldId id="279" r:id="rId13"/>
    <p:sldId id="27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2" y="2590077"/>
            <a:ext cx="8968085" cy="166033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7" y="2590077"/>
            <a:ext cx="3077109" cy="16603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8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6"/>
            <a:ext cx="1171888" cy="1356443"/>
          </a:xfrm>
        </p:spPr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8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88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8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9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9"/>
            <a:ext cx="9613863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2" y="2336874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4" y="3030009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5" y="3030009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9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7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3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4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8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9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5" y="753229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3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4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5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9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5929623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9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9" y="4567989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4" y="4711617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4" y="609598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6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9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5929623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9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9" y="4567989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8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4" y="4711617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1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9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5929623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9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9" y="4567989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8" y="609600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90" y="3653378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4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135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9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5929623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9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9" y="4567989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0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80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9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2"/>
            <a:ext cx="307003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2"/>
            <a:ext cx="3063240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8" y="2336872"/>
            <a:ext cx="3070025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8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40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9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2"/>
            <a:ext cx="3049705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2"/>
            <a:ext cx="3063240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9" y="4873764"/>
            <a:ext cx="3067297" cy="106242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2"/>
            <a:ext cx="3063505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9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5" y="4873761"/>
            <a:ext cx="3067563" cy="106242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21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8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9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85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4"/>
            <a:ext cx="160299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8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8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8"/>
            <a:ext cx="2743200" cy="365125"/>
          </a:xfrm>
        </p:spPr>
        <p:txBody>
          <a:bodyPr/>
          <a:lstStyle/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3" y="5936189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2" y="5398634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3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3" y="753229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3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6EA4-6F87-4C72-8453-FF8E82BDFB0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9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FC1F8-7B41-49EE-B2EA-28C8BBD9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54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10462" y="1698995"/>
            <a:ext cx="9256807" cy="2387600"/>
          </a:xfrm>
        </p:spPr>
        <p:txBody>
          <a:bodyPr>
            <a:norm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Classification using Convolutional Neural Network </a:t>
            </a:r>
            <a:endParaRPr lang="en-US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19277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6D94-2F98-4D42-8A44-4223B313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23" y="969444"/>
            <a:ext cx="9613861" cy="10809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10309E1-979A-47D6-93EC-127A6856A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470786"/>
              </p:ext>
            </p:extLst>
          </p:nvPr>
        </p:nvGraphicFramePr>
        <p:xfrm>
          <a:off x="628031" y="2774120"/>
          <a:ext cx="9613861" cy="260574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42959">
                  <a:extLst>
                    <a:ext uri="{9D8B030D-6E8A-4147-A177-3AD203B41FA5}">
                      <a16:colId xmlns:a16="http://schemas.microsoft.com/office/drawing/2014/main" val="2051232729"/>
                    </a:ext>
                  </a:extLst>
                </a:gridCol>
                <a:gridCol w="4200922">
                  <a:extLst>
                    <a:ext uri="{9D8B030D-6E8A-4147-A177-3AD203B41FA5}">
                      <a16:colId xmlns:a16="http://schemas.microsoft.com/office/drawing/2014/main" val="981265885"/>
                    </a:ext>
                  </a:extLst>
                </a:gridCol>
                <a:gridCol w="4569980">
                  <a:extLst>
                    <a:ext uri="{9D8B030D-6E8A-4147-A177-3AD203B41FA5}">
                      <a16:colId xmlns:a16="http://schemas.microsoft.com/office/drawing/2014/main" val="2099246409"/>
                    </a:ext>
                  </a:extLst>
                </a:gridCol>
              </a:tblGrid>
              <a:tr h="868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343374"/>
                  </a:ext>
                </a:extLst>
              </a:tr>
              <a:tr h="868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Mostafa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Monoar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20234103379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561463"/>
                  </a:ext>
                </a:extLst>
              </a:tr>
              <a:tr h="868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Jubaer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Rahman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20234103386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38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21700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1" y="753228"/>
            <a:ext cx="9613861" cy="10809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9B76B3-19F3-4A81-A292-4B7A367806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151" y="2691828"/>
            <a:ext cx="1086369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classification is the process of assigning a specific label to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input image based on its visual content.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machine learning required manual "feature extraction"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(identifying shapes/colors by hand), which was slow and inefficient.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Learning, specifically CNNs, allows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feature extraction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the process faster and more accurate.</a:t>
            </a:r>
          </a:p>
        </p:txBody>
      </p:sp>
    </p:spTree>
    <p:extLst>
      <p:ext uri="{BB962C8B-B14F-4D97-AF65-F5344CB8AC3E}">
        <p14:creationId xmlns:p14="http://schemas.microsoft.com/office/powerpoint/2010/main" val="39827279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098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128513D-E240-4D0E-994D-017EC4BB00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098" y="2823748"/>
            <a:ext cx="890314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simple yet effective CNN architecture for image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model using the standard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CIFAR-10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power of Convolutional layers in capturing "spatial hierarchies"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(low-level to high-level features).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high classification accuracy (Target: 88%).</a:t>
            </a:r>
          </a:p>
        </p:txBody>
      </p:sp>
    </p:spTree>
    <p:extLst>
      <p:ext uri="{BB962C8B-B14F-4D97-AF65-F5344CB8AC3E}">
        <p14:creationId xmlns:p14="http://schemas.microsoft.com/office/powerpoint/2010/main" val="194952618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993" y="762106"/>
            <a:ext cx="9613861" cy="108093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9633D6-4BD5-4C52-B010-E881C0480B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4770" y="3620341"/>
            <a:ext cx="9878308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CIFAR-10      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Images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60,000 color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Size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32x32 pixels.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Training Set: 50,000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Set    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10,000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 (10)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Airplane, Automobile, Bird, Cat, Deer, Dog, Frog, Horse, Ship, Truck.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674AEF-4A21-4639-B2B6-B5C9E6F0D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70860"/>
              </p:ext>
            </p:extLst>
          </p:nvPr>
        </p:nvGraphicFramePr>
        <p:xfrm>
          <a:off x="1113097" y="2263101"/>
          <a:ext cx="9371430" cy="10809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23810">
                  <a:extLst>
                    <a:ext uri="{9D8B030D-6E8A-4147-A177-3AD203B41FA5}">
                      <a16:colId xmlns:a16="http://schemas.microsoft.com/office/drawing/2014/main" val="2706613198"/>
                    </a:ext>
                  </a:extLst>
                </a:gridCol>
                <a:gridCol w="3123810">
                  <a:extLst>
                    <a:ext uri="{9D8B030D-6E8A-4147-A177-3AD203B41FA5}">
                      <a16:colId xmlns:a16="http://schemas.microsoft.com/office/drawing/2014/main" val="3891705385"/>
                    </a:ext>
                  </a:extLst>
                </a:gridCol>
                <a:gridCol w="3123810">
                  <a:extLst>
                    <a:ext uri="{9D8B030D-6E8A-4147-A177-3AD203B41FA5}">
                      <a16:colId xmlns:a16="http://schemas.microsoft.com/office/drawing/2014/main" val="529032236"/>
                    </a:ext>
                  </a:extLst>
                </a:gridCol>
              </a:tblGrid>
              <a:tr h="551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6208484"/>
                  </a:ext>
                </a:extLst>
              </a:tr>
              <a:tr h="529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CIFAR-10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77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37078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8181-CF9E-443D-AB78-4D9F1018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FB0438-4359-4BE1-A8CF-7C2F00E02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060" y="2069616"/>
            <a:ext cx="8808940" cy="295421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3915AA-FFAB-44AF-936D-461C2DC3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53" y="3357805"/>
            <a:ext cx="9613861" cy="359931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consists of several key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to process image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the 32x32x3 image pixels.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local patterns like edges, lines, and textures.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negative values and adds non-linearity.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Pooling: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image size while keeping the most important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(Dense) Layer: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extracted features to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final probability for each of the 10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2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123" y="765928"/>
            <a:ext cx="9613861" cy="108093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  <a:endParaRPr lang="en-US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4E885F5-7912-4A41-852C-92853A86C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8123" y="2537743"/>
            <a:ext cx="9227157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Categorical Cross-Entropy (standard for multi-class tasks).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Optimizer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Adam (uses adaptive learning rates for faster convergence).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Epochs     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10–20 (number of times the model sees the entire dataset).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Size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32 (number of images processed before updating weights).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Backpropagation (adjusts neural weights to minimize error).</a:t>
            </a:r>
          </a:p>
        </p:txBody>
      </p:sp>
    </p:spTree>
    <p:extLst>
      <p:ext uri="{BB962C8B-B14F-4D97-AF65-F5344CB8AC3E}">
        <p14:creationId xmlns:p14="http://schemas.microsoft.com/office/powerpoint/2010/main" val="372899626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623" y="753228"/>
            <a:ext cx="9613861" cy="108093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7CD3-2EC2-4259-97B3-9BFD0672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23" y="3623950"/>
            <a:ext cx="9529594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metrics obtained from the simulation: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88%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Loss       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0.35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    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high accuracy proves that the CNN successfully learned the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distinct features of the 10 different categories.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7EFDBD-B841-4972-AE8D-933D3EF36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386522"/>
              </p:ext>
            </p:extLst>
          </p:nvPr>
        </p:nvGraphicFramePr>
        <p:xfrm>
          <a:off x="4046681" y="2179105"/>
          <a:ext cx="7547556" cy="13344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73778">
                  <a:extLst>
                    <a:ext uri="{9D8B030D-6E8A-4147-A177-3AD203B41FA5}">
                      <a16:colId xmlns:a16="http://schemas.microsoft.com/office/drawing/2014/main" val="2882124703"/>
                    </a:ext>
                  </a:extLst>
                </a:gridCol>
                <a:gridCol w="3773778">
                  <a:extLst>
                    <a:ext uri="{9D8B030D-6E8A-4147-A177-3AD203B41FA5}">
                      <a16:colId xmlns:a16="http://schemas.microsoft.com/office/drawing/2014/main" val="4141416912"/>
                    </a:ext>
                  </a:extLst>
                </a:gridCol>
              </a:tblGrid>
              <a:tr h="5345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0122808"/>
                  </a:ext>
                </a:extLst>
              </a:tr>
              <a:tr h="715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836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57316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317" y="686054"/>
            <a:ext cx="9613861" cy="108093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Analysis</a:t>
            </a:r>
            <a:endParaRPr lang="en-US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1B4153-FB1E-4515-80CB-E9791B4C7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631" y="2136209"/>
            <a:ext cx="6329668" cy="458418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C070F32-8F1A-47B5-93BA-C90EF15D1A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985" y="2478713"/>
            <a:ext cx="587051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exactly where the model succeeded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where it failed.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Diagonal Line: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Represents correct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(e.g., 901 Airplanes correctly identified).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Off-Diagonal: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confusion between similar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 (e.g., Cat misclassified as Dog).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which categories need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training data or better feature extraction.</a:t>
            </a:r>
          </a:p>
        </p:txBody>
      </p:sp>
    </p:spTree>
    <p:extLst>
      <p:ext uri="{BB962C8B-B14F-4D97-AF65-F5344CB8AC3E}">
        <p14:creationId xmlns:p14="http://schemas.microsoft.com/office/powerpoint/2010/main" val="2582758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1B3F-A14A-43D4-9F47-4012C04B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Advantages of CNN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6B56984-FD52-47D0-B78F-53D730991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3" y="2750663"/>
            <a:ext cx="969688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Spatial Invariance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can recognize an object regardless of where it is in the picture.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need for humans to define what a "car" or "bird" looks like;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the model learns it through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          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Pooling layers significantly reduce the computational power needed.</a:t>
            </a:r>
          </a:p>
        </p:txBody>
      </p:sp>
    </p:spTree>
    <p:extLst>
      <p:ext uri="{BB962C8B-B14F-4D97-AF65-F5344CB8AC3E}">
        <p14:creationId xmlns:p14="http://schemas.microsoft.com/office/powerpoint/2010/main" val="186444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endParaRPr lang="en-US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AB9884-E337-4BDA-831B-19737A729EA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0321" y="2777065"/>
            <a:ext cx="938695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          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Detecting tumors in medical X-rays and MRI scans.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Self-driving cars identifying pedestrians and traffic signs.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Biometrics           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recognition for security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             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search (finding products by taking a photo).</a:t>
            </a:r>
          </a:p>
        </p:txBody>
      </p:sp>
    </p:spTree>
    <p:extLst>
      <p:ext uri="{BB962C8B-B14F-4D97-AF65-F5344CB8AC3E}">
        <p14:creationId xmlns:p14="http://schemas.microsoft.com/office/powerpoint/2010/main" val="120266635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063" y="705018"/>
            <a:ext cx="9613861" cy="10809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9ABF1F-5C85-4CB5-85BF-6F21F78652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3488" y="2658027"/>
            <a:ext cx="10382586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CNN is a highly effective method for image recognition, outperforming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(using pre-trained models 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VGG).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dataset size for even higher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Optimizing for mobile and real-time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69206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4130" y="1630084"/>
            <a:ext cx="915147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3154841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393</TotalTime>
  <Words>642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Berlin</vt:lpstr>
      <vt:lpstr>Image Classification using Convolutional Neural Network </vt:lpstr>
      <vt:lpstr>Presented By: </vt:lpstr>
      <vt:lpstr>Introduction</vt:lpstr>
      <vt:lpstr>Objectives</vt:lpstr>
      <vt:lpstr>Dataset Overview</vt:lpstr>
      <vt:lpstr>CNN Architecture</vt:lpstr>
      <vt:lpstr>Training Process</vt:lpstr>
      <vt:lpstr>Experimental Results</vt:lpstr>
      <vt:lpstr>Confusion Matrix Analysis</vt:lpstr>
      <vt:lpstr>Key Advantages of CNN</vt:lpstr>
      <vt:lpstr>Real-World Applications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User</cp:lastModifiedBy>
  <cp:revision>73</cp:revision>
  <dcterms:created xsi:type="dcterms:W3CDTF">2025-11-23T16:37:25Z</dcterms:created>
  <dcterms:modified xsi:type="dcterms:W3CDTF">2026-04-19T14:21:33Z</dcterms:modified>
</cp:coreProperties>
</file>